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3" r:id="rId5"/>
    <p:sldId id="262" r:id="rId6"/>
    <p:sldId id="259" r:id="rId7"/>
    <p:sldId id="261" r:id="rId8"/>
    <p:sldId id="264" r:id="rId9"/>
    <p:sldId id="268" r:id="rId10"/>
    <p:sldId id="290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8" roundtripDataSignature="AMtx7mik+0yBL1AikQDBUTkgsEDaFUI+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12121DF-1835-430B-93A1-9EEC21A3A3A4}">
  <a:tblStyle styleId="{F12121DF-1835-430B-93A1-9EEC21A3A3A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76" autoAdjust="0"/>
    <p:restoredTop sz="94660"/>
  </p:normalViewPr>
  <p:slideViewPr>
    <p:cSldViewPr snapToGrid="0">
      <p:cViewPr varScale="1">
        <p:scale>
          <a:sx n="81" d="100"/>
          <a:sy n="81" d="100"/>
        </p:scale>
        <p:origin x="931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38" Type="http://customschemas.google.com/relationships/presentationmetadata" Target="metadata"/><Relationship Id="rId2" Type="http://schemas.openxmlformats.org/officeDocument/2006/relationships/slide" Target="slides/slide1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5927166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710723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755616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977611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518024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150969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933337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173932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750102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87487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838200" y="635636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4038600" y="635636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610600" y="635636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dt" idx="10"/>
          </p:nvPr>
        </p:nvSpPr>
        <p:spPr>
          <a:xfrm>
            <a:off x="838200" y="635636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ftr" idx="11"/>
          </p:nvPr>
        </p:nvSpPr>
        <p:spPr>
          <a:xfrm>
            <a:off x="4038600" y="635636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610600" y="635636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dt" idx="10"/>
          </p:nvPr>
        </p:nvSpPr>
        <p:spPr>
          <a:xfrm>
            <a:off x="838200" y="635636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ftr" idx="11"/>
          </p:nvPr>
        </p:nvSpPr>
        <p:spPr>
          <a:xfrm>
            <a:off x="4038600" y="635636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610600" y="635636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body" idx="1"/>
          </p:nvPr>
        </p:nvSpPr>
        <p:spPr>
          <a:xfrm>
            <a:off x="5183188" y="987441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838200" y="635636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4038600" y="635636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610600" y="635636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dt" idx="10"/>
          </p:nvPr>
        </p:nvSpPr>
        <p:spPr>
          <a:xfrm>
            <a:off x="838200" y="635636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ftr" idx="11"/>
          </p:nvPr>
        </p:nvSpPr>
        <p:spPr>
          <a:xfrm>
            <a:off x="4038600" y="635636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sldNum" idx="12"/>
          </p:nvPr>
        </p:nvSpPr>
        <p:spPr>
          <a:xfrm>
            <a:off x="8610600" y="635636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>
            <a:spLocks noGrp="1"/>
          </p:cNvSpPr>
          <p:nvPr>
            <p:ph type="title"/>
          </p:nvPr>
        </p:nvSpPr>
        <p:spPr>
          <a:xfrm rot="5400000">
            <a:off x="7133432" y="1956602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1"/>
          </p:nvPr>
        </p:nvSpPr>
        <p:spPr>
          <a:xfrm rot="5400000">
            <a:off x="1799432" y="-596098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dt" idx="10"/>
          </p:nvPr>
        </p:nvSpPr>
        <p:spPr>
          <a:xfrm>
            <a:off x="838200" y="635636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ftr" idx="11"/>
          </p:nvPr>
        </p:nvSpPr>
        <p:spPr>
          <a:xfrm>
            <a:off x="4038600" y="635636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610600" y="635636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38200" y="635636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4038600" y="635636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610600" y="635636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" y="0"/>
            <a:ext cx="566959" cy="6876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7564" y="0"/>
            <a:ext cx="209677" cy="544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" descr="A close up of a sign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23317" y="6210513"/>
            <a:ext cx="868683" cy="647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" descr="A picture containing drawing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6191884"/>
            <a:ext cx="2655568" cy="6638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411103-AD4F-39FF-9EB0-7CF00055F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541487"/>
            <a:ext cx="10515600" cy="4351338"/>
          </a:xfrm>
        </p:spPr>
        <p:txBody>
          <a:bodyPr/>
          <a:lstStyle/>
          <a:p>
            <a:pPr marL="114300" indent="0" algn="ctr">
              <a:buNone/>
            </a:pPr>
            <a:r>
              <a:rPr lang="en-US" sz="2400" b="1" dirty="0"/>
              <a:t>DEVOPS IA – 2</a:t>
            </a:r>
          </a:p>
          <a:p>
            <a:pPr marL="114300" indent="0" algn="ctr">
              <a:buNone/>
            </a:pPr>
            <a:endParaRPr lang="en-US" sz="2000" b="1" dirty="0"/>
          </a:p>
          <a:p>
            <a:pPr marL="114300" indent="0" algn="ctr">
              <a:buNone/>
            </a:pPr>
            <a:r>
              <a:rPr lang="en-US" sz="1800" dirty="0"/>
              <a:t>Hitanshi Patil – 16010122283</a:t>
            </a:r>
          </a:p>
          <a:p>
            <a:pPr marL="114300" indent="0" algn="ctr">
              <a:buNone/>
            </a:pPr>
            <a:r>
              <a:rPr lang="en-US" sz="1800" dirty="0"/>
              <a:t>Harikrishnan Gopal – 16010122284</a:t>
            </a:r>
          </a:p>
          <a:p>
            <a:pPr marL="114300" indent="0" algn="ctr">
              <a:buNone/>
            </a:pPr>
            <a:r>
              <a:rPr lang="en-US" sz="1800" dirty="0"/>
              <a:t>Aditya Raut – 16010122288</a:t>
            </a:r>
          </a:p>
          <a:p>
            <a:pPr marL="114300" indent="0" algn="ctr">
              <a:buNone/>
            </a:pPr>
            <a:r>
              <a:rPr lang="en-US" sz="1800" dirty="0" err="1"/>
              <a:t>Suhrud</a:t>
            </a:r>
            <a:r>
              <a:rPr lang="en-US" sz="1800" dirty="0"/>
              <a:t> </a:t>
            </a:r>
            <a:r>
              <a:rPr lang="en-US" sz="1800" dirty="0" err="1"/>
              <a:t>Korgaokar</a:t>
            </a:r>
            <a:r>
              <a:rPr lang="en-US" sz="1800" dirty="0"/>
              <a:t> – 16010122334</a:t>
            </a:r>
          </a:p>
          <a:p>
            <a:pPr marL="114300" indent="0" algn="ctr">
              <a:buNone/>
            </a:pPr>
            <a:endParaRPr lang="en-US" sz="1800" dirty="0"/>
          </a:p>
          <a:p>
            <a:pPr marL="114300" indent="0" algn="ctr">
              <a:buNone/>
            </a:pPr>
            <a:r>
              <a:rPr lang="en-US" sz="1800" dirty="0"/>
              <a:t>Under the Guidance of: Prof. Swapnil Pawar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58679DF-1CA8-150B-6DEF-2EEDDEAC9A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1405309"/>
            <a:ext cx="1115163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AutoStockML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Automated Stock Prediction Using AI and DevOps.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58"/>
    </mc:Choice>
    <mc:Fallback xmlns="">
      <p:transition spd="slow" advTm="235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" y="2224"/>
            <a:ext cx="566959" cy="6855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7564" y="0"/>
            <a:ext cx="209677" cy="544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" descr="A close up of a sign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23317" y="6210513"/>
            <a:ext cx="868683" cy="647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" descr="A picture containing drawing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6191884"/>
            <a:ext cx="2655568" cy="66389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564FDB-0358-6F26-C9CE-4CDA48A56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A2B2E5F-3979-048C-0C53-A32A77239D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59665" y="3038814"/>
            <a:ext cx="9272669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Stock market data changes every second due to global events, news, and sentiment.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model retraining is slow, inconsistent, and error-prone.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There’s a need for an automated system that: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Fetches fresh market data after market close.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Retrains predictive models on recent trends.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Redeploys updated models for real-time predictions without human intervention.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161498-AE2A-DACC-492C-364A635F69E9}"/>
              </a:ext>
            </a:extLst>
          </p:cNvPr>
          <p:cNvSpPr txBox="1"/>
          <p:nvPr/>
        </p:nvSpPr>
        <p:spPr>
          <a:xfrm>
            <a:off x="777241" y="2077552"/>
            <a:ext cx="114141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We used AI + Devops to automate stock price prediction in finance industry</a:t>
            </a:r>
          </a:p>
        </p:txBody>
      </p:sp>
    </p:spTree>
    <p:extLst>
      <p:ext uri="{BB962C8B-B14F-4D97-AF65-F5344CB8AC3E}">
        <p14:creationId xmlns:p14="http://schemas.microsoft.com/office/powerpoint/2010/main" val="2001074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14"/>
    </mc:Choice>
    <mc:Fallback xmlns="">
      <p:transition spd="slow" advTm="331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" y="2224"/>
            <a:ext cx="566959" cy="6855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7564" y="0"/>
            <a:ext cx="209677" cy="544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" descr="A close up of a sign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23317" y="6210513"/>
            <a:ext cx="868683" cy="647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" descr="A picture containing drawing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6191884"/>
            <a:ext cx="2655568" cy="66389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5A0876-DC4C-AD93-FA61-85919A56E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3D67301-1678-3440-BD21-2067D8D741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47737" y="1498663"/>
            <a:ext cx="10296525" cy="35035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AutoStockML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fully automated MLOps-driven stock prediction system that intelligently updates itself every day.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Fetches Intraday Stock Data daily after market close from live market APIs, ensuring the model always learns from the most recent trading activity.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Retrains a Machine Learning Model automatically on the combined historical and latest data to capture emerging market trends and price patterns.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Evaluates and Version-Controls Models to maintain transparency and track performance improvements.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Redeploys the Updated Model API on Railway, triggered directly through GitHub Actions, ensuring real-time availability of the latest predictions.</a:t>
            </a:r>
          </a:p>
        </p:txBody>
      </p:sp>
    </p:spTree>
    <p:extLst>
      <p:ext uri="{BB962C8B-B14F-4D97-AF65-F5344CB8AC3E}">
        <p14:creationId xmlns:p14="http://schemas.microsoft.com/office/powerpoint/2010/main" val="4246734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98"/>
    </mc:Choice>
    <mc:Fallback xmlns="">
      <p:transition spd="slow" advTm="3898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" y="2224"/>
            <a:ext cx="566959" cy="6855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7564" y="0"/>
            <a:ext cx="209677" cy="544068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522D48E-36AD-E90C-8692-86DD1E957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836" y="-313601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Architecture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EFA65A-E3AA-05AA-0730-BB1034B9C6A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251"/>
          <a:stretch>
            <a:fillRect/>
          </a:stretch>
        </p:blipFill>
        <p:spPr>
          <a:xfrm>
            <a:off x="3033336" y="689068"/>
            <a:ext cx="6402895" cy="6177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997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" y="2224"/>
            <a:ext cx="566959" cy="6855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7564" y="0"/>
            <a:ext cx="209677" cy="544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" descr="A close up of a sign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23317" y="6210513"/>
            <a:ext cx="868683" cy="647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" descr="A picture containing drawing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6191884"/>
            <a:ext cx="2655568" cy="66389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98B27F-0BD1-4CC5-6EFA-F9D7BBC2F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&amp; Data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9A3F84-335C-41C1-E114-349BE540DD89}"/>
              </a:ext>
            </a:extLst>
          </p:cNvPr>
          <p:cNvSpPr txBox="1"/>
          <p:nvPr/>
        </p:nvSpPr>
        <p:spPr>
          <a:xfrm>
            <a:off x="951722" y="1672696"/>
            <a:ext cx="10870164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Intraday stock data fetched daily from Alpha Vantage.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key indicators: Open, High, Low, Close, Volume.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cleaned, validated, and stored as structured CSV files.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a growing historical dataset for continuous learning.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LSTM for stock price prediction.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from historical &amp; latest intraday data to capture real-time market patterns.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next-day or intraday stock prices with adaptive accuracy.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Retrained automatically through GitHub Actions for daily model refresh.</a:t>
            </a:r>
          </a:p>
        </p:txBody>
      </p:sp>
    </p:spTree>
    <p:extLst>
      <p:ext uri="{BB962C8B-B14F-4D97-AF65-F5344CB8AC3E}">
        <p14:creationId xmlns:p14="http://schemas.microsoft.com/office/powerpoint/2010/main" val="1239418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" y="2224"/>
            <a:ext cx="566959" cy="6855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7564" y="0"/>
            <a:ext cx="209677" cy="544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" descr="A close up of a sign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23317" y="6210513"/>
            <a:ext cx="868683" cy="647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" descr="A picture containing drawing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6191884"/>
            <a:ext cx="2655568" cy="66389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EECCD0-022E-DEC9-6C06-E781D1730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523" y="2103437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7966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" y="2224"/>
            <a:ext cx="566959" cy="6855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7564" y="0"/>
            <a:ext cx="209677" cy="544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" descr="A close up of a sign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23317" y="6210513"/>
            <a:ext cx="868683" cy="647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" descr="A picture containing drawing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6191884"/>
            <a:ext cx="2655568" cy="66389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68054BE-35E2-40F5-7B4F-80621B0CC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4871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on Railway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D2F47B-4079-D8DA-B204-875982F500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Details: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API exposes /predict endpoint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Hosted on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Railway.app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 directly to GitHub main branch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model push → Railway auto rebuilds container → redeploys API</a:t>
            </a:r>
          </a:p>
        </p:txBody>
      </p:sp>
    </p:spTree>
    <p:extLst>
      <p:ext uri="{BB962C8B-B14F-4D97-AF65-F5344CB8AC3E}">
        <p14:creationId xmlns:p14="http://schemas.microsoft.com/office/powerpoint/2010/main" val="651950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" y="2224"/>
            <a:ext cx="566959" cy="6855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7564" y="0"/>
            <a:ext cx="209677" cy="544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" descr="A close up of a sign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23317" y="6210513"/>
            <a:ext cx="868683" cy="647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" descr="A picture containing drawing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6191884"/>
            <a:ext cx="2655568" cy="66389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68054BE-35E2-40F5-7B4F-80621B0CC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59" y="212729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Results &amp; Observations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D2F47B-4079-D8DA-B204-875982F50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23811"/>
            <a:ext cx="10515600" cy="4786702"/>
          </a:xfrm>
        </p:spPr>
        <p:txBody>
          <a:bodyPr/>
          <a:lstStyle/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Daily Automated Retraining:</a:t>
            </a:r>
            <a:b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model retrains itself every day using the latest intraday data, staying fully in sync with live market movements.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Improving Prediction Accuracy:</a:t>
            </a:r>
            <a:b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retraining cycle refines the model, enhancing accuracy and adapting to subtle shifts in market patterns.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 Manual Effort:</a:t>
            </a:r>
            <a:b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entire process runs autonomously, eliminating human error and saving a significant amount of time and effort.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Seamless CI/CD Pipeline:</a:t>
            </a:r>
            <a:b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Integrated with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Actions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Railway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 pipeline automates data fetching, model training, evaluation, and redeployment.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Efficiency &amp; Reliability:</a:t>
            </a:r>
            <a:b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Ensures consistent performance, quick updates, and a scalable, production-ready financial prediction system.</a:t>
            </a:r>
          </a:p>
        </p:txBody>
      </p:sp>
    </p:spTree>
    <p:extLst>
      <p:ext uri="{BB962C8B-B14F-4D97-AF65-F5344CB8AC3E}">
        <p14:creationId xmlns:p14="http://schemas.microsoft.com/office/powerpoint/2010/main" val="1618904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" y="2224"/>
            <a:ext cx="566959" cy="6855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7564" y="0"/>
            <a:ext cx="209677" cy="544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" descr="A close up of a sign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23317" y="6210513"/>
            <a:ext cx="868683" cy="647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" descr="A picture containing drawing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6191884"/>
            <a:ext cx="2655568" cy="66389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CECBE3-E40E-9D62-F9E3-A56734E87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E98D83-60DB-FAAB-E18C-FDBC931DC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AutoStockML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delivers a fully automated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MLOps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pipeline that unites Machine Learning, DevOps, and Cloud Deployment.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fetches data, retrains models, evaluates results, and redeploys APIs — all automatically.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daily updates and zero manual effort, the model stays accurate and adaptive to real market trends.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how automation and intelligence can work together to build scalable, production-ready financial AI solutions.</a:t>
            </a:r>
          </a:p>
        </p:txBody>
      </p:sp>
    </p:spTree>
    <p:extLst>
      <p:ext uri="{BB962C8B-B14F-4D97-AF65-F5344CB8AC3E}">
        <p14:creationId xmlns:p14="http://schemas.microsoft.com/office/powerpoint/2010/main" val="1782266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" y="2224"/>
            <a:ext cx="566959" cy="6855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7564" y="0"/>
            <a:ext cx="209677" cy="544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" descr="A close up of a sign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23317" y="6210513"/>
            <a:ext cx="868683" cy="647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" descr="A picture containing drawing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6191884"/>
            <a:ext cx="2655568" cy="66389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D63699-02FA-6449-20ED-77615B865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69488"/>
            <a:ext cx="10515600" cy="1325563"/>
          </a:xfrm>
        </p:spPr>
        <p:txBody>
          <a:bodyPr/>
          <a:lstStyle/>
          <a:p>
            <a:pPr algn="ctr"/>
            <a:r>
              <a:rPr lang="en-US" sz="6000" b="1" dirty="0"/>
              <a:t>Thank You</a:t>
            </a:r>
            <a:endParaRPr lang="en-IN" sz="6000" b="1" dirty="0"/>
          </a:p>
        </p:txBody>
      </p:sp>
    </p:spTree>
    <p:extLst>
      <p:ext uri="{BB962C8B-B14F-4D97-AF65-F5344CB8AC3E}">
        <p14:creationId xmlns:p14="http://schemas.microsoft.com/office/powerpoint/2010/main" val="38672837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541</TotalTime>
  <Words>551</Words>
  <Application>Microsoft Office PowerPoint</Application>
  <PresentationFormat>Widescreen</PresentationFormat>
  <Paragraphs>55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Times New Roman</vt:lpstr>
      <vt:lpstr>Calibri</vt:lpstr>
      <vt:lpstr>Arial</vt:lpstr>
      <vt:lpstr>4_Office Theme</vt:lpstr>
      <vt:lpstr>AutoStockML – Automated Stock Prediction Using AI and DevOps.</vt:lpstr>
      <vt:lpstr>INTRODUCTION</vt:lpstr>
      <vt:lpstr>Project Overview</vt:lpstr>
      <vt:lpstr>Workflow Architecture</vt:lpstr>
      <vt:lpstr>Model &amp; Data</vt:lpstr>
      <vt:lpstr>Implementation</vt:lpstr>
      <vt:lpstr>Deployment on Railway</vt:lpstr>
      <vt:lpstr>Results &amp; Observations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Literature Survey  on ---------------</dc:title>
  <dc:creator>Sudha</dc:creator>
  <cp:lastModifiedBy>Harikrishnan Gopal</cp:lastModifiedBy>
  <cp:revision>23</cp:revision>
  <dcterms:modified xsi:type="dcterms:W3CDTF">2025-10-29T15:03:35Z</dcterms:modified>
</cp:coreProperties>
</file>